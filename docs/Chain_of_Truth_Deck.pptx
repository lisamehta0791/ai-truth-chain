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5074920"/>
            <a:ext cx="1051560" cy="566928"/>
          </a:xfrm>
          <a:prstGeom prst="roundRect">
            <a:avLst>
              <a:gd name="adj" fmla="val 15000"/>
            </a:avLst>
          </a:prstGeom>
          <a:solidFill>
            <a:srgbClr val="140F2B"/>
          </a:solidFill>
          <a:ln w="952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10515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BLOCK 00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sha256 · linked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83080" y="5358384"/>
            <a:ext cx="548640" cy="0"/>
          </a:xfrm>
          <a:prstGeom prst="line">
            <a:avLst/>
          </a:prstGeom>
          <a:ln w="15875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31720" y="5074920"/>
            <a:ext cx="1051560" cy="566928"/>
          </a:xfrm>
          <a:prstGeom prst="roundRect">
            <a:avLst>
              <a:gd name="adj" fmla="val 15000"/>
            </a:avLst>
          </a:prstGeom>
          <a:solidFill>
            <a:srgbClr val="140F2B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331720" y="5074920"/>
            <a:ext cx="10515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BLOCK 01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sha256 · linked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5358384"/>
            <a:ext cx="548640" cy="0"/>
          </a:xfrm>
          <a:prstGeom prst="line">
            <a:avLst/>
          </a:prstGeom>
          <a:ln w="15875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931920" y="5074920"/>
            <a:ext cx="1051560" cy="566928"/>
          </a:xfrm>
          <a:prstGeom prst="roundRect">
            <a:avLst>
              <a:gd name="adj" fmla="val 15000"/>
            </a:avLst>
          </a:prstGeom>
          <a:solidFill>
            <a:srgbClr val="140F2B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931920" y="5074920"/>
            <a:ext cx="10515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BLOCK 02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sha256 · linked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5358384"/>
            <a:ext cx="548640" cy="0"/>
          </a:xfrm>
          <a:prstGeom prst="line">
            <a:avLst/>
          </a:prstGeom>
          <a:ln w="15875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32120" y="5074920"/>
            <a:ext cx="1051560" cy="566928"/>
          </a:xfrm>
          <a:prstGeom prst="roundRect">
            <a:avLst>
              <a:gd name="adj" fmla="val 15000"/>
            </a:avLst>
          </a:prstGeom>
          <a:solidFill>
            <a:srgbClr val="140F2B"/>
          </a:solidFill>
          <a:ln w="952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532120" y="5074920"/>
            <a:ext cx="10515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BLOCK 03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sha256 · linked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0" y="5358384"/>
            <a:ext cx="548640" cy="0"/>
          </a:xfrm>
          <a:prstGeom prst="line">
            <a:avLst/>
          </a:prstGeom>
          <a:ln w="15875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5074920"/>
            <a:ext cx="1051560" cy="566928"/>
          </a:xfrm>
          <a:prstGeom prst="roundRect">
            <a:avLst>
              <a:gd name="adj" fmla="val 15000"/>
            </a:avLst>
          </a:prstGeom>
          <a:solidFill>
            <a:srgbClr val="140F2B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0" y="5074920"/>
            <a:ext cx="10515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BLOCK 04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sha256 · linked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83880" y="5358384"/>
            <a:ext cx="548640" cy="0"/>
          </a:xfrm>
          <a:prstGeom prst="line">
            <a:avLst/>
          </a:prstGeom>
          <a:ln w="15875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2520" y="5074920"/>
            <a:ext cx="1051560" cy="566928"/>
          </a:xfrm>
          <a:prstGeom prst="roundRect">
            <a:avLst>
              <a:gd name="adj" fmla="val 15000"/>
            </a:avLst>
          </a:prstGeom>
          <a:solidFill>
            <a:srgbClr val="140F2B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732520" y="5074920"/>
            <a:ext cx="10515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BLOCK 05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sha256 · linked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84080" y="5358384"/>
            <a:ext cx="548640" cy="0"/>
          </a:xfrm>
          <a:prstGeom prst="line">
            <a:avLst/>
          </a:prstGeom>
          <a:ln w="15875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32720" y="5074920"/>
            <a:ext cx="1051560" cy="566928"/>
          </a:xfrm>
          <a:prstGeom prst="roundRect">
            <a:avLst>
              <a:gd name="adj" fmla="val 15000"/>
            </a:avLst>
          </a:prstGeom>
          <a:solidFill>
            <a:srgbClr val="140F2B"/>
          </a:solidFill>
          <a:ln w="952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332720" y="5074920"/>
            <a:ext cx="105156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BLOCK 06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D739E"/>
                </a:solidFill>
                <a:latin typeface="Bahnschrift SemiBold"/>
              </a:rPr>
              <a:t>sha256 · linked</a:t>
            </a:r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914400" cy="914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20574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3EEFC"/>
                </a:solidFill>
                <a:latin typeface="Bahnschrift SemiBold"/>
              </a:rPr>
              <a:t>CHAIN OF TRUTH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175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78BFA"/>
                </a:solidFill>
                <a:latin typeface="Bahnschrift SemiBold"/>
              </a:rPr>
              <a:t>EVIDENCE  ·  INTELLIGENCE  ·  JUSTICE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5661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9B0D6"/>
                </a:solidFill>
                <a:latin typeface="Segoe UI"/>
              </a:rPr>
              <a:t>AI-assisted evidence integrity &amp; investigation system for police and the judiciary.
Tamper-evident evidence. AI that cites what it says. Officers who decide.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D739E"/>
                </a:solidFill>
                <a:latin typeface="Bahnschrift SemiBold"/>
              </a:rPr>
              <a:t>AI Builders Hackathon 2026  ·  Team: Lisa Mehta  ·  Source: github.com/lisamehta0791/AI-Truth-Chain  ·  Demo video: (add link)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274320" cy="16459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D739E"/>
                </a:solidFill>
                <a:latin typeface="Bahnschrift SemiBold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EFC"/>
                </a:solidFill>
                <a:latin typeface="Bahnschrift SemiBold"/>
              </a:rPr>
              <a:t>The case file is where investigations go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CHAIN OF TRUTH  ·  Evidence · Intelligence · Justice  ·  AI assists, humans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02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7607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 b="1">
                <a:solidFill>
                  <a:srgbClr val="F3EEFC"/>
                </a:solidFill>
                <a:latin typeface="Segoe UI"/>
              </a:rPr>
              <a:t>Evidence is easy to alter and hard to prove intact — </a:t>
            </a:r>
            <a:r>
              <a:rPr sz="1400">
                <a:solidFill>
                  <a:srgbClr val="B9B0D6"/>
                </a:solidFill>
                <a:latin typeface="Segoe UI"/>
              </a:rPr>
              <a:t>a photo re-saved, a record back-dated, a statement quietly rewritten. Courts throw cases out on custody doubts alone.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 b="1">
                <a:solidFill>
                  <a:srgbClr val="F3EEFC"/>
                </a:solidFill>
                <a:latin typeface="Segoe UI"/>
              </a:rPr>
              <a:t>The file never reads itself — </a:t>
            </a:r>
            <a:r>
              <a:rPr sz="1400">
                <a:solidFill>
                  <a:srgbClr val="B9B0D6"/>
                </a:solidFill>
                <a:latin typeface="Segoe UI"/>
              </a:rPr>
              <a:t>CCTV logs, call records, statements and the post-mortem sit in separate folders. The contradiction that decides a case — the witness says 21:15, the camera says 20:47 — is found late, or never.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 b="1">
                <a:solidFill>
                  <a:srgbClr val="F3EEFC"/>
                </a:solidFill>
                <a:latin typeface="Segoe UI"/>
              </a:rPr>
              <a:t>Everyone gets the same screen — </a:t>
            </a:r>
            <a:r>
              <a:rPr sz="1400">
                <a:solidFill>
                  <a:srgbClr val="B9B0D6"/>
                </a:solidFill>
                <a:latin typeface="Segoe UI"/>
              </a:rPr>
              <a:t>a Constable, an Inspector and a prosecutor need different authority, and every action needs to be attributable to a rank.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A78BFA"/>
                </a:solidFill>
                <a:latin typeface="Segoe UI"/>
              </a:rPr>
              <a:t>▸ </a:t>
            </a:r>
            <a:r>
              <a:rPr sz="1400" b="1">
                <a:solidFill>
                  <a:srgbClr val="F3EEFC"/>
                </a:solidFill>
                <a:latin typeface="Segoe UI"/>
              </a:rPr>
              <a:t>AI tools that guess are worse than none — </a:t>
            </a:r>
            <a:r>
              <a:rPr sz="1400">
                <a:solidFill>
                  <a:srgbClr val="B9B0D6"/>
                </a:solidFill>
                <a:latin typeface="Segoe UI"/>
              </a:rPr>
              <a:t>an assistant that invents a time or a name is not admissible and not safe.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554480"/>
            <a:ext cx="4937760" cy="132588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675120" y="1554480"/>
            <a:ext cx="54864" cy="132588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39712" y="1664208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EEFC"/>
                </a:solidFill>
                <a:latin typeface="Bahnschrift SemiBold"/>
              </a:rPr>
              <a:t>Who feels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011680"/>
            <a:ext cx="46634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9B0D6"/>
                </a:solidFill>
                <a:latin typeface="Segoe UI"/>
              </a:rPr>
              <a:t>Investigating officers drowning in paper, forensic reviewers cross-checking by hand, prosecutors who discover the gap in court.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063240"/>
            <a:ext cx="4937760" cy="132588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75120" y="3063240"/>
            <a:ext cx="54864" cy="1325880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39712" y="3172968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EEFC"/>
                </a:solidFill>
                <a:latin typeface="Bahnschrift SemiBold"/>
              </a:rPr>
              <a:t>What is at stake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3520440"/>
            <a:ext cx="46634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9B0D6"/>
                </a:solidFill>
                <a:latin typeface="Segoe UI"/>
              </a:rPr>
              <a:t>Wrongful releases and wrongful convictions both start with an unreliable record. Integrity is the product, not a feature.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572000"/>
            <a:ext cx="4937760" cy="132588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75120" y="4572000"/>
            <a:ext cx="54864" cy="1325880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39712" y="4681728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EEFC"/>
                </a:solidFill>
                <a:latin typeface="Bahnschrift SemiBold"/>
              </a:rPr>
              <a:t>Design commitment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5029200"/>
            <a:ext cx="46634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9B0D6"/>
                </a:solidFill>
                <a:latin typeface="Segoe UI"/>
              </a:rPr>
              <a:t>AI assists; humans decide. Nothing becomes fact until an officer confirms it — and that confirmation is logged.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274320" cy="16459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D739E"/>
                </a:solidFill>
                <a:latin typeface="Bahnschrift SemiBold"/>
              </a:rP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EFC"/>
                </a:solidFill>
                <a:latin typeface="Bahnschrift SemiBold"/>
              </a:rPr>
              <a:t>One system: seal it, read it, question it, decide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CHAIN OF TRUTH  ·  Evidence · Intelligence · Justice  ·  AI assists, humans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03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265176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A78BFA"/>
                </a:solidFill>
                <a:latin typeface="Bahnschrift SemiBold"/>
              </a:rPr>
              <a:t>SEAL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9B0D6"/>
                </a:solidFill>
                <a:latin typeface="Segoe UI"/>
              </a:rPr>
              <a:t>Every item SHA-256 hashed on arrival and chained to the previous one. Second officer for physical exhibits; field ranks add a live camera capture.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0020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383280" y="1600200"/>
            <a:ext cx="2651760" cy="7315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66160" y="17830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72B6"/>
                </a:solidFill>
                <a:latin typeface="Bahnschrift SemiBold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8600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9B0D6"/>
                </a:solidFill>
                <a:latin typeface="Segoe UI"/>
              </a:rPr>
              <a:t>The AI extracts every dated event, person, place and vehicle from each item and lays them on one timeline.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7920" y="1600200"/>
            <a:ext cx="2651760" cy="73152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B547"/>
                </a:solidFill>
                <a:latin typeface="Bahnschrift SemiBold"/>
              </a:rPr>
              <a:t>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9B0D6"/>
                </a:solidFill>
                <a:latin typeface="Segoe UI"/>
              </a:rPr>
              <a:t>Sources are compared against each other; contradictions surface with a severity, a confidence and the two excerpts side by side.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60020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052560" y="1600200"/>
            <a:ext cx="2651760" cy="73152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35440" y="178308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6FFA5"/>
                </a:solidFill>
                <a:latin typeface="Bahnschrift SemiBold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8600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9B0D6"/>
                </a:solidFill>
                <a:latin typeface="Segoe UI"/>
              </a:rPr>
              <a:t>An officer of the right rank confirms or dismisses each hypothesis. The decision, the rank and the time go to the audit trail.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D739E"/>
                </a:solidFill>
                <a:latin typeface="Bahnschrift SemiBold"/>
              </a:rPr>
              <a:t>Then the file is checked before it leaves the station: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83480"/>
            <a:ext cx="1106424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A78BFA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Post-mortem findings mapped on an anatomical figure and cross-checked against statements and cameras  ·  a draft chargesheet checked claim by claim  ·  statement versions diffed word by word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A78BFA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Case similarity across every file the officer can see — has this happened before? — with the shared names, places, vehicles and modus operandi listed, never a hidden score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A78BFA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A hash ledger that re-hashes every file, anchors the chain outside the database, and includes a tamper drill for the sceptic in the room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274320" cy="16459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D739E"/>
                </a:solidFill>
                <a:latin typeface="Bahnschrift SemiBold"/>
              </a:rPr>
              <a:t>TARGET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EFC"/>
                </a:solidFill>
                <a:latin typeface="Bahnschrift SemiBold"/>
              </a:rPr>
              <a:t>Built for the whole chain of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CHAIN OF TRUTH  ·  Evidence · Intelligence · Justice  ·  AI assists, humans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04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54864" cy="2057400"/>
          </a:xfrm>
          <a:prstGeom prst="rect">
            <a:avLst/>
          </a:prstGeom>
          <a:solidFill>
            <a:srgbClr val="B9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3EEFC"/>
                </a:solidFill>
                <a:latin typeface="Bahnschrift SemiBold"/>
              </a:rPr>
              <a:t>Constable / field ranks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5740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9B0D6"/>
                </a:solidFill>
                <a:latin typeface="Segoe UI"/>
              </a:rPr>
              <a:t>Logs evidence at the scene with a live capture. Sees only their own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600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97679" y="1600200"/>
            <a:ext cx="54864" cy="2057400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62271" y="170992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3EEFC"/>
                </a:solidFill>
                <a:latin typeface="Bahnschrift SemiBold"/>
              </a:rPr>
              <a:t>Sub-Inspector / Inspector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1" y="205740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9B0D6"/>
                </a:solidFill>
                <a:latin typeface="Segoe UI"/>
              </a:rPr>
              <a:t>Confirms or dismisses AI findings, reviews contradictions, reads the audit trail.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600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46719" y="1600200"/>
            <a:ext cx="54864" cy="20574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11311" y="170992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3EEFC"/>
                </a:solidFill>
                <a:latin typeface="Bahnschrift SemiBold"/>
              </a:rPr>
              <a:t>Forensic medical officer (DSP)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205740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9B0D6"/>
                </a:solidFill>
                <a:latin typeface="Segoe UI"/>
              </a:rPr>
              <a:t>Reviews post-mortem hypotheses on the figure; cross-checks against the file.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3840480"/>
            <a:ext cx="54864" cy="20574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3232" y="395020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3EEFC"/>
                </a:solidFill>
                <a:latin typeface="Bahnschrift SemiBold"/>
              </a:rPr>
              <a:t>Superintendent / Commissioner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29768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9B0D6"/>
                </a:solidFill>
                <a:latin typeface="Segoe UI"/>
              </a:rPr>
              <a:t>Sees every case, provisions accounts top-down, anchors the ledger, drives the demo.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384048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297679" y="3840480"/>
            <a:ext cx="54864" cy="205740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462271" y="395020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3EEFC"/>
                </a:solidFill>
                <a:latin typeface="Bahnschrift SemiBold"/>
              </a:rPr>
              <a:t>Public prosecutor (view-only)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1" y="429768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9B0D6"/>
                </a:solidFill>
                <a:latin typeface="Segoe UI"/>
              </a:rPr>
              <a:t>Reads everything at clearance, changes nothing — every write is refused server-side.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84048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46719" y="3840480"/>
            <a:ext cx="54864" cy="2057400"/>
          </a:xfrm>
          <a:prstGeom prst="rect">
            <a:avLst/>
          </a:prstGeom>
          <a:solidFill>
            <a:srgbClr val="9A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11311" y="395020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3EEFC"/>
                </a:solidFill>
                <a:latin typeface="Bahnschrift SemiBold"/>
              </a:rPr>
              <a:t>Judiciary &amp; auditors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429768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B9B0D6"/>
                </a:solidFill>
                <a:latin typeface="Segoe UI"/>
              </a:rPr>
              <a:t>An independent, verifiable custody record: re-hash the files, check the anchor, read the trail.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D739E"/>
                </a:solidFill>
                <a:latin typeface="Segoe UI"/>
              </a:rPr>
              <a:t>Rank + role are independent axes; eleven ranks from Constable to DGP; every threshold enforced on the server, the interface is only a courtesy.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274320" cy="16459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D739E"/>
                </a:solidFill>
                <a:latin typeface="Bahnschrift SemiBold"/>
              </a:rPr>
              <a:t>PRODUCT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EFC"/>
                </a:solidFill>
                <a:latin typeface="Bahnschrift SemiBold"/>
              </a:rPr>
              <a:t>Sixteen working modules, one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CHAIN OF TRUTH  ·  Evidence · Intelligence · Justice  ·  AI assists, humans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05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45720" cy="1051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1645920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Evidence 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93392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Hash + chain, second officer, live capture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5448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383280" y="1554480"/>
            <a:ext cx="45720" cy="1051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47872" y="1645920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Chain of custody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993392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Every touch, with the hash at that moment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5448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45720" cy="10515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82512" y="1645920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Hash ledger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993392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Re-hash, anchors, tamper drill, checkpoint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554480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052560" y="1554480"/>
            <a:ext cx="45720" cy="105156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17152" y="1645920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Timeline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1993392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AI-extracted, officer-confirmed chronology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724912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2724912"/>
            <a:ext cx="45720" cy="105156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3232" y="2816352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Contradictions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163824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A vs B, severity, confidence, 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2724912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383280" y="2724912"/>
            <a:ext cx="45720" cy="105156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47872" y="2816352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Investigation Copilot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3163824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Next steps citing BNSS/BSA + grounded Q&amp;A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724912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217920" y="2724912"/>
            <a:ext cx="45720" cy="1051560"/>
          </a:xfrm>
          <a:prstGeom prst="rect">
            <a:avLst/>
          </a:prstGeom>
          <a:solidFill>
            <a:srgbClr val="9A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82512" y="2816352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Autopsy cross-check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163824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Findings on the figure, checked against the file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2724912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052560" y="2724912"/>
            <a:ext cx="45720" cy="1051560"/>
          </a:xfrm>
          <a:prstGeom prst="rect">
            <a:avLst/>
          </a:prstGeom>
          <a:solidFill>
            <a:srgbClr val="9A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17152" y="2816352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Evidence 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3163824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People, places, devices, exhibits — connected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895344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48640" y="3895344"/>
            <a:ext cx="45720" cy="1051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13232" y="3986784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Predictive location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4334256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Real map, movement track, explained scores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3280" y="3895344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383280" y="3895344"/>
            <a:ext cx="45720" cy="1051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547872" y="3986784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Statement reliability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47872" y="4334256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Every version kept, word-level diff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3895344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217920" y="3895344"/>
            <a:ext cx="45720" cy="105156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382512" y="3986784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Chargesheet QA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4334256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Claims vs the verified record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52560" y="3895344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9052560" y="3895344"/>
            <a:ext cx="45720" cy="1051560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217152" y="3986784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Case similarity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17152" y="4334256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Has this happened before? Side-by-side compare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5065776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548640" y="5065776"/>
            <a:ext cx="45720" cy="1051560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13232" y="5157216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Case review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" y="5504688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Closure readiness with the arithmetic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83280" y="5065776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3383280" y="5065776"/>
            <a:ext cx="45720" cy="1051560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547872" y="5157216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Offline sync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47872" y="5504688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Field captures keep their original hash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5065776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6217920" y="5065776"/>
            <a:ext cx="45720" cy="1051560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382512" y="5157216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Audit trail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82512" y="5504688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Every action, every rank, every result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52560" y="5065776"/>
            <a:ext cx="2697480" cy="105156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9052560" y="5065776"/>
            <a:ext cx="45720" cy="1051560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217152" y="5157216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Personnel &amp; access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17152" y="5504688"/>
            <a:ext cx="246888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Top-down provisioning, view-only accounts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144768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739E"/>
                </a:solidFill>
                <a:latin typeface="Segoe UI"/>
              </a:rPr>
              <a:t>Every module ships with demo data: a ten-stage fictional case plus three earlier cases that share its signature.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274320" cy="16459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D739E"/>
                </a:solidFill>
                <a:latin typeface="Bahnschrift SemiBold"/>
              </a:rPr>
              <a:t>HOW IT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EFC"/>
                </a:solidFill>
                <a:latin typeface="Bahnschrift SemiBold"/>
              </a:rPr>
              <a:t>Technical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CHAIN OF TRUTH  ·  Evidence · Intelligence · Justice  ·  AI assists, humans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06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108960" cy="160020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3108960" cy="54864"/>
          </a:xfrm>
          <a:prstGeom prst="rect">
            <a:avLst/>
          </a:prstGeom>
          <a:solidFill>
            <a:srgbClr val="9A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28216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Frontend — React 18 +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39112"/>
            <a:ext cx="29260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9B0D6"/>
                </a:solidFill>
                <a:latin typeface="Segoe UI"/>
              </a:rPr>
              <a:t>Vite · Tailwind · Motion · MapLibre (OpenStreetMap) · d3-force graph · anatomy viewer · live WebSocket updates · 17 pages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600200"/>
            <a:ext cx="3749039" cy="160020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06240" y="1600200"/>
            <a:ext cx="3749039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15968" y="1728216"/>
            <a:ext cx="356615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Backend — FastAPI + SQLAlchemy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039112"/>
            <a:ext cx="3566159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9B0D6"/>
                </a:solidFill>
                <a:latin typeface="Segoe UI"/>
              </a:rPr>
              <a:t>One router per module · rank/role permissions on every route · audit log on every action · WebSocket manager · demo scenario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600200"/>
            <a:ext cx="3108960" cy="160020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503920" y="1600200"/>
            <a:ext cx="3108960" cy="5486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13648" y="1728216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AI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039112"/>
            <a:ext cx="29260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9B0D6"/>
                </a:solidFill>
                <a:latin typeface="Segoe UI"/>
              </a:rPr>
              <a:t>Groq (openai/gpt-oss-120b) or Anthropic · extraction, contradiction, guidance, autopsy, copilot · RAG over pgvector · Voyage embeddings (deterministic fallback)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5760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3657600"/>
            <a:ext cx="3108960" cy="54864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785616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PostgreSQL 16 + pgvector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096512"/>
            <a:ext cx="292608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9B0D6"/>
                </a:solidFill>
                <a:latin typeface="Segoe UI"/>
              </a:rPr>
              <a:t>Cases, evidence, custody events, timeline, contradictions, entities, anchors, audit log, embeddings · Alembic migrations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657600"/>
            <a:ext cx="3749039" cy="146304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206240" y="3657600"/>
            <a:ext cx="3749039" cy="54864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315968" y="3785616"/>
            <a:ext cx="356615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Integrity core (no AI)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096512"/>
            <a:ext cx="3566159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9B0D6"/>
                </a:solidFill>
                <a:latin typeface="Segoe UI"/>
              </a:rPr>
              <a:t>SHA-256 per file · previous-hash chain · HMAC-signed anchors kept outside the DB · custody events with hash-at-event · rule-based location scoring · closure arithmetic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365760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503920" y="3657600"/>
            <a:ext cx="3108960" cy="54864"/>
          </a:xfrm>
          <a:prstGeom prst="rect">
            <a:avLst/>
          </a:prstGeom>
          <a:solidFill>
            <a:srgbClr val="7D7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13648" y="3785616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MinIO (S3) object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4096512"/>
            <a:ext cx="292608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9B0D6"/>
                </a:solidFill>
                <a:latin typeface="Segoe UI"/>
              </a:rPr>
              <a:t>Evidence files and live captures · re-downloaded and re-hashed on every ledger verification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57600" y="2377440"/>
            <a:ext cx="548640" cy="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55279" y="2377440"/>
            <a:ext cx="548641" cy="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80760" y="3200400"/>
            <a:ext cx="0" cy="45720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03120" y="3200400"/>
            <a:ext cx="0" cy="45720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058400" y="3200400"/>
            <a:ext cx="0" cy="45720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D739E"/>
                </a:solidFill>
                <a:latin typeface="Segoe UI"/>
              </a:rPr>
              <a:t>Flow: upload → hash + chain + store → AI extraction → timeline &amp; entities → contradiction detection → guidance → WebSocket push → officer decision → audit.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7D739E"/>
                </a:solidFill>
                <a:latin typeface="Segoe UI"/>
              </a:rPr>
              <a:t>Docker Compose for Postgres/MinIO (and the full stack in production); 60 automated checks (API smoke, rank permissions, evidence rules, browser suite) run against the live stack.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274320" cy="16459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D739E"/>
                </a:solidFill>
                <a:latin typeface="Bahnschrift SemiBold"/>
              </a:rPr>
              <a:t>AI 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EFC"/>
                </a:solidFill>
                <a:latin typeface="Bahnschrift SemiBold"/>
              </a:rPr>
              <a:t>AI where it helps, arithmetic where it must be certain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CHAIN OF TRUTH  ·  Evidence · Intelligence · Justice  ·  AI assists, humans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07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6035040" cy="100584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54864" cy="10058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1664208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11680"/>
            <a:ext cx="5760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LLM reads each item and returns dated events, entities and excerpts. Rules: never invent a date; time only when the source states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70048"/>
            <a:ext cx="6035040" cy="100584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2670048"/>
            <a:ext cx="54864" cy="10058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2779776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Contradiction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127248"/>
            <a:ext cx="5760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Each new event is compared with the existing chronology; conflicts carry a severity, a confidence and both excerpts.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85615"/>
            <a:ext cx="6035040" cy="100584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785615"/>
            <a:ext cx="54864" cy="10058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895343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Investigation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42815"/>
            <a:ext cx="5760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Next-step suggestions grounded in a curated legal knowledge base (RAG over pgvector) with the section cited; a Q&amp;A that answers only from this case's evidence and admits gaps.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01184"/>
            <a:ext cx="6035040" cy="100584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4901184"/>
            <a:ext cx="54864" cy="10058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3232" y="5010912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3EEFC"/>
                </a:solidFill>
                <a:latin typeface="Bahnschrift SemiBold"/>
              </a:rPr>
              <a:t>Autopsy &amp; chargesheet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358384"/>
            <a:ext cx="5760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9B0D6"/>
                </a:solidFill>
                <a:latin typeface="Segoe UI"/>
              </a:rPr>
              <a:t>Post-mortem findings mapped to body regions with confidence; chargesheet claims judged pass / warning / conflict / unsupported against the verified timeline.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1554480"/>
            <a:ext cx="4663440" cy="4343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949440" y="1554480"/>
            <a:ext cx="4663440" cy="73152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32320" y="173736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6FFA5"/>
                </a:solidFill>
                <a:latin typeface="Bahnschrift SemiBold"/>
              </a:rPr>
              <a:t>Deliberately NOT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148840"/>
            <a:ext cx="429768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06FFA5"/>
                </a:solidFill>
                <a:latin typeface="Segoe UI"/>
              </a:rPr>
              <a:t>▸ </a:t>
            </a:r>
            <a:r>
              <a:rPr sz="1150" b="1">
                <a:solidFill>
                  <a:srgbClr val="F3EEFC"/>
                </a:solidFill>
                <a:latin typeface="Segoe UI"/>
              </a:rPr>
              <a:t>Hash chain and ledger — </a:t>
            </a:r>
            <a:r>
              <a:rPr sz="1150">
                <a:solidFill>
                  <a:srgbClr val="B9B0D6"/>
                </a:solidFill>
                <a:latin typeface="Segoe UI"/>
              </a:rPr>
              <a:t>SHA-256, previous-hash links, HMAC anchors — deterministic cryptography.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6FFA5"/>
                </a:solidFill>
                <a:latin typeface="Segoe UI"/>
              </a:rPr>
              <a:t>▸ </a:t>
            </a:r>
            <a:r>
              <a:rPr sz="1150" b="1">
                <a:solidFill>
                  <a:srgbClr val="F3EEFC"/>
                </a:solidFill>
                <a:latin typeface="Segoe UI"/>
              </a:rPr>
              <a:t>Location scoring — </a:t>
            </a:r>
            <a:r>
              <a:rPr sz="1150">
                <a:solidFill>
                  <a:srgbClr val="B9B0D6"/>
                </a:solidFill>
                <a:latin typeface="Segoe UI"/>
              </a:rPr>
              <a:t>0.5 × recency + 0.5 × reliability, every factor shown on the map.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6FFA5"/>
                </a:solidFill>
                <a:latin typeface="Segoe UI"/>
              </a:rPr>
              <a:t>▸ </a:t>
            </a:r>
            <a:r>
              <a:rPr sz="1150" b="1">
                <a:solidFill>
                  <a:srgbClr val="F3EEFC"/>
                </a:solidFill>
                <a:latin typeface="Segoe UI"/>
              </a:rPr>
              <a:t>Case similarity — </a:t>
            </a:r>
            <a:r>
              <a:rPr sz="1150">
                <a:solidFill>
                  <a:srgbClr val="B9B0D6"/>
                </a:solidFill>
                <a:latin typeface="Segoe UI"/>
              </a:rPr>
              <a:t>Jaccard over named entities, evidence types and a fixed modus-operandi vocabulary — the shared items are listed, so a match is inspectable.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6FFA5"/>
                </a:solidFill>
                <a:latin typeface="Segoe UI"/>
              </a:rPr>
              <a:t>▸ </a:t>
            </a:r>
            <a:r>
              <a:rPr sz="1150" b="1">
                <a:solidFill>
                  <a:srgbClr val="F3EEFC"/>
                </a:solidFill>
                <a:latin typeface="Segoe UI"/>
              </a:rPr>
              <a:t>Closure readiness — </a:t>
            </a:r>
            <a:r>
              <a:rPr sz="1150">
                <a:solidFill>
                  <a:srgbClr val="B9B0D6"/>
                </a:solidFill>
                <a:latin typeface="Segoe UI"/>
              </a:rPr>
              <a:t>100 − penalties, printed on the page.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6FFA5"/>
                </a:solidFill>
                <a:latin typeface="Segoe UI"/>
              </a:rPr>
              <a:t>▸ </a:t>
            </a:r>
            <a:r>
              <a:rPr sz="1150" b="1">
                <a:solidFill>
                  <a:srgbClr val="F3EEFC"/>
                </a:solidFill>
                <a:latin typeface="Segoe UI"/>
              </a:rPr>
              <a:t>Every AI output is a hypothesis — </a:t>
            </a:r>
            <a:r>
              <a:rPr sz="1150">
                <a:solidFill>
                  <a:srgbClr val="B9B0D6"/>
                </a:solidFill>
                <a:latin typeface="Segoe UI"/>
              </a:rPr>
              <a:t>magenta until an officer of the right rank confirms it (mint). The model never writes to the verified record.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739E"/>
                </a:solidFill>
                <a:latin typeface="Segoe UI"/>
              </a:rPr>
              <a:t>Stack: Groq API (openai/gpt-oss-120b) with Anthropic as a drop-in alternative · pgvector · Voyage AI embeddings with a deterministic local fallback · provider-agnostic adapter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274320" cy="16459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D739E"/>
                </a:solidFill>
                <a:latin typeface="Bahnschrift SemiBold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EFC"/>
                </a:solidFill>
                <a:latin typeface="Bahnschrift SemiBold"/>
              </a:rPr>
              <a:t>Impact &amp; value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CHAIN OF TRUTH  ·  Evidence · Intelligence · Justice  ·  AI assists, humans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08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54864" cy="2057400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170992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3EEFC"/>
                </a:solidFill>
                <a:latin typeface="Bahnschrift SemiBold"/>
              </a:rPr>
              <a:t>Admissible by 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5740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9B0D6"/>
                </a:solidFill>
                <a:latin typeface="Segoe UI"/>
              </a:rPr>
              <a:t>A custody record a court can verify independently: re-hash the files, walk the chain, check the anchor. Integrity doubts stop being a defence strategy.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600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97679" y="1600200"/>
            <a:ext cx="54864" cy="20574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62271" y="170992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3EEFC"/>
                </a:solidFill>
                <a:latin typeface="Bahnschrift SemiBold"/>
              </a:rPr>
              <a:t>The contradiction found on day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1" y="205740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9B0D6"/>
                </a:solidFill>
                <a:latin typeface="Segoe UI"/>
              </a:rPr>
              <a:t>The 21:15 / 20:47 clash surfaces the moment the statement is logged — not in cross-examination months later.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60020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46719" y="1600200"/>
            <a:ext cx="54864" cy="20574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11311" y="170992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3EEFC"/>
                </a:solidFill>
                <a:latin typeface="Bahnschrift SemiBold"/>
              </a:rPr>
              <a:t>Hours back to the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205740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9B0D6"/>
                </a:solidFill>
                <a:latin typeface="Segoe UI"/>
              </a:rPr>
              <a:t>Timeline, entity graph, statement diff and chargesheet check are done in seconds and cited; the officer spends the time deciding, not collating.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3840480"/>
            <a:ext cx="54864" cy="2057400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3232" y="395020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3EEFC"/>
                </a:solidFill>
                <a:latin typeface="Bahnschrift SemiBold"/>
              </a:rPr>
              <a:t>Patterns across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29768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9B0D6"/>
                </a:solidFill>
                <a:latin typeface="Segoe UI"/>
              </a:rPr>
              <a:t>Three earlier cases with the same knife, door and hatchback surface as a lead in one click — the question every investigator asks, answered with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384048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297679" y="3840480"/>
            <a:ext cx="54864" cy="2057400"/>
          </a:xfrm>
          <a:prstGeom prst="rect">
            <a:avLst/>
          </a:prstGeom>
          <a:solidFill>
            <a:srgbClr val="9AD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462271" y="395020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3EEFC"/>
                </a:solidFill>
                <a:latin typeface="Bahnschrift SemiBold"/>
              </a:rPr>
              <a:t>Safe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1" y="429768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9B0D6"/>
                </a:solidFill>
                <a:latin typeface="Segoe UI"/>
              </a:rPr>
              <a:t>Grounded, cited, rank-gated, logged. An assistant that says "the file does not establish this" is one investigators can trust.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84048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46719" y="3840480"/>
            <a:ext cx="54864" cy="2057400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11311" y="395020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3EEFC"/>
                </a:solidFill>
                <a:latin typeface="Bahnschrift SemiBold"/>
              </a:rPr>
              <a:t>Would use it tomorrow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4297680"/>
            <a:ext cx="3291840" cy="1508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9B0D6"/>
                </a:solidFill>
                <a:latin typeface="Segoe UI"/>
              </a:rPr>
              <a:t>Runs on a laptop with Docker; every module carries a full demo case; provisioning, audit and offline capture are built for stations, not slides.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274320" cy="16459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D739E"/>
                </a:solidFill>
                <a:latin typeface="Bahnschrift SemiBold"/>
              </a:rPr>
              <a:t>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EFC"/>
                </a:solidFill>
                <a:latin typeface="Bahnschrift SemiBold"/>
              </a:rPr>
              <a:t>Future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CHAIN OF TRUTH  ·  Evidence · Intelligence · Justice  ·  AI assists, humans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D739E"/>
                </a:solidFill>
                <a:latin typeface="Bahnschrift SemiBold"/>
              </a:rPr>
              <a:t>09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3566160" cy="731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A78BFA"/>
                </a:solidFill>
                <a:latin typeface="Bahnschrift SemiBold"/>
              </a:rPr>
              <a:t>Next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32004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A78BFA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Full-resolution anatomical imagery and per-region injury cards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A78BFA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Replay offline captures through the whole pipeline automatically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A78BFA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Verified legal knowledge base with citations reviewed by counsel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60020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97679" y="1600200"/>
            <a:ext cx="3566160" cy="7315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80559" y="17830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72B6"/>
                </a:solidFill>
                <a:latin typeface="Bahnschrift SemiBold"/>
              </a:rPr>
              <a:t>Next quarter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286000"/>
            <a:ext cx="32004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F472B6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Public timestamping of chain anchors (RFC 3161 / blockchain notary)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472B6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Multi-station deployment: Redis pub/sub for live updates, per-station data isolation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F472B6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Redaction workflow for PII when files leave the station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60020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140F2B"/>
          </a:solidFill>
          <a:ln w="9525">
            <a:solidFill>
              <a:srgbClr val="3B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46719" y="1600200"/>
            <a:ext cx="3566160" cy="73152"/>
          </a:xfrm>
          <a:prstGeom prst="rect">
            <a:avLst/>
          </a:prstGeom>
          <a:solidFill>
            <a:srgbClr val="06F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599" y="17830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6FFA5"/>
                </a:solidFill>
                <a:latin typeface="Bahnschrift SemiBold"/>
              </a:rPr>
              <a:t>Beyond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286000"/>
            <a:ext cx="32004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06FFA5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Court-facing read-only portal for defence and judiciary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6FFA5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Speech-to-text intake for statements in Indian languages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06FFA5"/>
                </a:solidFill>
                <a:latin typeface="Segoe UI"/>
              </a:rPr>
              <a:t>▸ </a:t>
            </a:r>
            <a:r>
              <a:rPr sz="1250">
                <a:solidFill>
                  <a:srgbClr val="B9B0D6"/>
                </a:solidFill>
                <a:latin typeface="Segoe UI"/>
              </a:rPr>
              <a:t>Cross-district pattern search with privacy-preserving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D739E"/>
                </a:solidFill>
                <a:latin typeface="Segoe UI"/>
              </a:rPr>
              <a:t>Guiding rule for every item: AI assists, humans decide — no roadmap item lets the model write to the verified record.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